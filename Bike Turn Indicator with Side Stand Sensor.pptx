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76" r:id="rId6"/>
    <p:sldId id="286" r:id="rId7"/>
    <p:sldId id="279" r:id="rId8"/>
    <p:sldId id="278" r:id="rId9"/>
    <p:sldId id="291" r:id="rId10"/>
    <p:sldId id="287" r:id="rId11"/>
    <p:sldId id="290" r:id="rId12"/>
    <p:sldId id="295" r:id="rId13"/>
    <p:sldId id="297" r:id="rId14"/>
    <p:sldId id="305" r:id="rId15"/>
    <p:sldId id="293" r:id="rId16"/>
    <p:sldId id="299" r:id="rId17"/>
    <p:sldId id="283" r:id="rId18"/>
    <p:sldId id="300" r:id="rId19"/>
    <p:sldId id="303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56" autoAdjust="0"/>
  </p:normalViewPr>
  <p:slideViewPr>
    <p:cSldViewPr snapToGrid="0" showGuides="1">
      <p:cViewPr varScale="1">
        <p:scale>
          <a:sx n="70" d="100"/>
          <a:sy n="70" d="100"/>
        </p:scale>
        <p:origin x="726" y="72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5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31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10/3/2019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ciencedirect.com/science/article/pii/S0386111215000151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65889"/>
            <a:ext cx="9144000" cy="2492990"/>
          </a:xfrm>
        </p:spPr>
        <p:txBody>
          <a:bodyPr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Montserrat Medium" panose="00000600000000000000" pitchFamily="2" charset="0"/>
              </a:rPr>
              <a:t>Bike Turn Indicator with Side Stand Sensor</a:t>
            </a:r>
            <a:r>
              <a:rPr lang="en-US" dirty="0">
                <a:solidFill>
                  <a:schemeClr val="bg1"/>
                </a:solidFill>
                <a:latin typeface="Montserrat Medium" panose="00000600000000000000" pitchFamily="2" charset="0"/>
              </a:rPr>
              <a:t/>
            </a:r>
            <a:br>
              <a:rPr lang="en-US" dirty="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endParaRPr lang="en-US" dirty="0">
              <a:solidFill>
                <a:schemeClr val="accent4"/>
              </a:solidFill>
              <a:latin typeface="Montserrat Medium" panose="00000600000000000000" pitchFamily="2" charset="0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="" xmlns:a16="http://schemas.microsoft.com/office/drawing/2014/main" id="{1C59176D-59A8-4C02-B448-EE01232FB3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="" xmlns:a16="http://schemas.microsoft.com/office/drawing/2014/main" id="{A50B1817-3C7F-41BC-8557-7A00C928EE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28A3828-5E99-46FC-A2B6-C365744C6DEC}"/>
              </a:ext>
            </a:extLst>
          </p:cNvPr>
          <p:cNvSpPr txBox="1"/>
          <p:nvPr/>
        </p:nvSpPr>
        <p:spPr>
          <a:xfrm>
            <a:off x="0" y="5775647"/>
            <a:ext cx="56823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Montserrat Medium" panose="00000600000000000000" pitchFamily="2" charset="0"/>
              </a:rPr>
              <a:t>Prepared By:</a:t>
            </a:r>
          </a:p>
          <a:p>
            <a:r>
              <a:rPr lang="en-IN" sz="2000" dirty="0">
                <a:solidFill>
                  <a:schemeClr val="bg1"/>
                </a:solidFill>
                <a:latin typeface="Montserrat Medium" panose="00000600000000000000" pitchFamily="2" charset="0"/>
              </a:rPr>
              <a:t>Parva Chandarana (EC 51), Sem. V</a:t>
            </a:r>
          </a:p>
          <a:p>
            <a:r>
              <a:rPr lang="en-IN" sz="2000" dirty="0" err="1">
                <a:solidFill>
                  <a:schemeClr val="bg1"/>
                </a:solidFill>
                <a:latin typeface="Montserrat Medium" panose="00000600000000000000" pitchFamily="2" charset="0"/>
              </a:rPr>
              <a:t>Ritvik</a:t>
            </a:r>
            <a:r>
              <a:rPr lang="en-IN" sz="2000" dirty="0">
                <a:solidFill>
                  <a:schemeClr val="bg1"/>
                </a:solidFill>
                <a:latin typeface="Montserrat Medium" panose="00000600000000000000" pitchFamily="2" charset="0"/>
              </a:rPr>
              <a:t> Tiwari (EC 72), Sem. 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4EA690-E2D9-4717-B5B7-3DB671081AC9}"/>
              </a:ext>
            </a:extLst>
          </p:cNvPr>
          <p:cNvSpPr txBox="1"/>
          <p:nvPr/>
        </p:nvSpPr>
        <p:spPr>
          <a:xfrm>
            <a:off x="7301596" y="5683314"/>
            <a:ext cx="59000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Montserrat Medium" panose="00000600000000000000" pitchFamily="2" charset="0"/>
              </a:rPr>
              <a:t>Guided By:</a:t>
            </a:r>
          </a:p>
          <a:p>
            <a:r>
              <a:rPr lang="en-IN" sz="2200" dirty="0">
                <a:solidFill>
                  <a:schemeClr val="bg1"/>
                </a:solidFill>
                <a:latin typeface="Montserrat Medium" panose="00000600000000000000" pitchFamily="2" charset="0"/>
              </a:rPr>
              <a:t>Prof. Smith S. </a:t>
            </a:r>
            <a:r>
              <a:rPr lang="en-IN" sz="2200" dirty="0" err="1">
                <a:solidFill>
                  <a:schemeClr val="bg1"/>
                </a:solidFill>
                <a:latin typeface="Montserrat Medium" panose="00000600000000000000" pitchFamily="2" charset="0"/>
              </a:rPr>
              <a:t>Thavalapill</a:t>
            </a:r>
            <a:endParaRPr lang="en-IN" sz="2200" dirty="0">
              <a:solidFill>
                <a:schemeClr val="bg1"/>
              </a:solidFill>
              <a:latin typeface="Montserrat Medium" panose="00000600000000000000" pitchFamily="2" charset="0"/>
            </a:endParaRPr>
          </a:p>
          <a:p>
            <a:r>
              <a:rPr lang="en-IN" sz="2200" dirty="0">
                <a:solidFill>
                  <a:schemeClr val="bg1"/>
                </a:solidFill>
                <a:latin typeface="Montserrat Medium" panose="00000600000000000000" pitchFamily="2" charset="0"/>
              </a:rPr>
              <a:t>Prof.  </a:t>
            </a:r>
            <a:r>
              <a:rPr lang="en-IN" sz="2200" dirty="0" err="1">
                <a:solidFill>
                  <a:schemeClr val="bg1"/>
                </a:solidFill>
                <a:latin typeface="Montserrat Medium" panose="00000600000000000000" pitchFamily="2" charset="0"/>
              </a:rPr>
              <a:t>Hetal</a:t>
            </a:r>
            <a:r>
              <a:rPr lang="en-IN" sz="2200" dirty="0">
                <a:solidFill>
                  <a:schemeClr val="bg1"/>
                </a:solidFill>
                <a:latin typeface="Montserrat Medium" panose="00000600000000000000" pitchFamily="2" charset="0"/>
              </a:rPr>
              <a:t> B. Shah</a:t>
            </a: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="" xmlns:a16="http://schemas.microsoft.com/office/drawing/2014/main" id="{364CFD90-D0E1-4BC3-9D8B-7503E2632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 Medium" panose="00000600000000000000" pitchFamily="2" charset="0"/>
            </a:endParaRPr>
          </a:p>
        </p:txBody>
      </p:sp>
      <p:sp>
        <p:nvSpPr>
          <p:cNvPr id="4" name="Title 3" hidden="1">
            <a:extLst>
              <a:ext uri="{FF2B5EF4-FFF2-40B4-BE49-F238E27FC236}">
                <a16:creationId xmlns=""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Outline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E3ECCC05-FF78-40FA-84FF-172821D8B5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latin typeface="Montserrat Medium" panose="00000600000000000000" pitchFamily="2" charset="0"/>
              </a:rPr>
              <a:t>PROJECT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="" xmlns:a16="http://schemas.microsoft.com/office/drawing/2014/main" id="{D6178536-4D8A-4FF2-BBDC-4B3E7E0FCF2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ontserrat Medium" panose="00000600000000000000" pitchFamily="2" charset="0"/>
              </a:rPr>
              <a:t>Abstract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416F1356-9015-4B5C-9C64-3C1D963E5F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 Medium" panose="000006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="" xmlns:a16="http://schemas.microsoft.com/office/drawing/2014/main" id="{EB7F2E37-0ACF-4E8A-9C1D-EC5B65BA29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750361" y="3334727"/>
            <a:ext cx="3733500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50" dirty="0">
                <a:latin typeface="Montserrat Medium" panose="00000600000000000000" pitchFamily="2" charset="0"/>
              </a:rPr>
              <a:t>          Block Diagram &amp; Designing</a:t>
            </a: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88F812F5-70AF-4FBD-80D9-D59B3C456D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 Medium" panose="00000600000000000000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="" xmlns:a16="http://schemas.microsoft.com/office/drawing/2014/main" id="{952C5002-7E64-4069-ACA0-6876E54A9B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991406" y="5034701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ontserrat Medium" panose="00000600000000000000" pitchFamily="2" charset="0"/>
              </a:rPr>
              <a:t>Working</a:t>
            </a:r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A49C5F3A-6F0D-4A0F-AE6E-92F342C22AC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880281" y="4993129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 Medium" panose="00000600000000000000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="" xmlns:a16="http://schemas.microsoft.com/office/drawing/2014/main" id="{94A75A79-A67A-4A23-8588-7FC5EB9A518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ontserrat Medium" panose="00000600000000000000" pitchFamily="2" charset="0"/>
              </a:rPr>
              <a:t>Conclusion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BBC62739-FA35-49F8-8929-743B31F55A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 Medium" panose="00000600000000000000" pitchFamily="2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="" xmlns:a16="http://schemas.microsoft.com/office/drawing/2014/main" id="{71BB375D-5EE6-4428-9817-2C7DB6B943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Montserrat Medium" panose="00000600000000000000" pitchFamily="2" charset="0"/>
              </a:rPr>
              <a:t>Applications</a:t>
            </a:r>
            <a:endParaRPr lang="en-US" sz="1600" dirty="0">
              <a:latin typeface="Montserrat Medium" panose="00000600000000000000" pitchFamily="2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B3A511B7-C7F3-4107-9962-1E10D2E087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 Medium" panose="00000600000000000000" pitchFamily="2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="" xmlns:a16="http://schemas.microsoft.com/office/drawing/2014/main" id="{D4D7D4B6-62C2-45AB-89A5-3A41DA021F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539819" y="5163621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Montserrat Medium" panose="00000600000000000000" pitchFamily="2" charset="0"/>
              </a:rPr>
              <a:t>Limitations</a:t>
            </a:r>
            <a:endParaRPr lang="en-US" sz="1600" dirty="0">
              <a:latin typeface="Montserrat Medium" panose="00000600000000000000" pitchFamily="2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="" xmlns:a16="http://schemas.microsoft.com/office/drawing/2014/main" id="{83902602-D4BC-4D44-AC14-BB55A86C5D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 Medium" panose="00000600000000000000" pitchFamily="2" charset="0"/>
            </a:endParaRPr>
          </a:p>
        </p:txBody>
      </p:sp>
      <p:grpSp>
        <p:nvGrpSpPr>
          <p:cNvPr id="31" name="Group 30" descr="Icons of bar chart and line graph.">
            <a:extLst>
              <a:ext uri="{FF2B5EF4-FFF2-40B4-BE49-F238E27FC236}">
                <a16:creationId xmlns=""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=""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Medium" panose="00000600000000000000" pitchFamily="2" charset="0"/>
              </a:endParaRPr>
            </a:p>
          </p:txBody>
        </p:sp>
        <p:sp>
          <p:nvSpPr>
            <p:cNvPr id="33" name="Freeform 373">
              <a:extLst>
                <a:ext uri="{FF2B5EF4-FFF2-40B4-BE49-F238E27FC236}">
                  <a16:creationId xmlns=""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Medium" panose="00000600000000000000" pitchFamily="2" charset="0"/>
              </a:endParaRPr>
            </a:p>
          </p:txBody>
        </p:sp>
      </p:grpSp>
      <p:sp>
        <p:nvSpPr>
          <p:cNvPr id="34" name="Freeform 1676" descr="Icon of check box. ">
            <a:extLst>
              <a:ext uri="{FF2B5EF4-FFF2-40B4-BE49-F238E27FC236}">
                <a16:creationId xmlns=""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Montserrat Medium" panose="00000600000000000000" pitchFamily="2" charset="0"/>
            </a:endParaRPr>
          </a:p>
        </p:txBody>
      </p:sp>
      <p:sp>
        <p:nvSpPr>
          <p:cNvPr id="35" name="Freeform 4665" descr="Icon of graph. ">
            <a:extLst>
              <a:ext uri="{FF2B5EF4-FFF2-40B4-BE49-F238E27FC236}">
                <a16:creationId xmlns=""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Montserrat Medium" panose="00000600000000000000" pitchFamily="2" charset="0"/>
            </a:endParaRPr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=""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81145" y="5293031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=""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Medium" panose="00000600000000000000" pitchFamily="2" charset="0"/>
              </a:endParaRPr>
            </a:p>
          </p:txBody>
        </p:sp>
        <p:sp>
          <p:nvSpPr>
            <p:cNvPr id="38" name="Freeform 3674">
              <a:extLst>
                <a:ext uri="{FF2B5EF4-FFF2-40B4-BE49-F238E27FC236}">
                  <a16:creationId xmlns=""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=""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=""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Medium" panose="00000600000000000000" pitchFamily="2" charset="0"/>
              </a:endParaRPr>
            </a:p>
          </p:txBody>
        </p:sp>
        <p:sp>
          <p:nvSpPr>
            <p:cNvPr id="41" name="Freeform 4360">
              <a:extLst>
                <a:ext uri="{FF2B5EF4-FFF2-40B4-BE49-F238E27FC236}">
                  <a16:creationId xmlns=""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Medium" panose="00000600000000000000" pitchFamily="2" charset="0"/>
              </a:endParaRPr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=""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Montserrat Medium" panose="00000600000000000000" pitchFamily="2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26704"/>
            <a:ext cx="492119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59786" y="333812"/>
            <a:ext cx="483221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661E9B6-1E8A-4CEA-96EF-BA10B415F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262"/>
            <a:ext cx="10515600" cy="49109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Montserrat Medium" panose="00000600000000000000" pitchFamily="2" charset="0"/>
              </a:rPr>
              <a:t>Inspiration behind undertaking the project</a:t>
            </a:r>
          </a:p>
          <a:p>
            <a:pPr marL="0" indent="0">
              <a:buNone/>
            </a:pPr>
            <a:endParaRPr lang="en-IN" b="1" dirty="0">
              <a:latin typeface="Montserrat Medium" panose="00000600000000000000" pitchFamily="2" charset="0"/>
            </a:endParaRPr>
          </a:p>
          <a:p>
            <a:pPr lvl="1"/>
            <a:r>
              <a:rPr lang="en-IN" dirty="0" smtClean="0">
                <a:latin typeface="Montserrat Medium" panose="00000600000000000000" pitchFamily="2" charset="0"/>
              </a:rPr>
              <a:t>Thousands</a:t>
            </a:r>
            <a:r>
              <a:rPr lang="en-IN" dirty="0" smtClean="0">
                <a:latin typeface="Montserrat Medium" panose="00000600000000000000" pitchFamily="2" charset="0"/>
              </a:rPr>
              <a:t> </a:t>
            </a:r>
            <a:r>
              <a:rPr lang="en-IN" dirty="0">
                <a:latin typeface="Montserrat Medium" panose="00000600000000000000" pitchFamily="2" charset="0"/>
              </a:rPr>
              <a:t>of people witness accidents on a daily basis.</a:t>
            </a:r>
          </a:p>
          <a:p>
            <a:pPr marL="457200" lvl="1" indent="0">
              <a:buNone/>
            </a:pPr>
            <a:endParaRPr lang="en-IN" dirty="0">
              <a:latin typeface="Montserrat Medium" panose="00000600000000000000" pitchFamily="2" charset="0"/>
            </a:endParaRPr>
          </a:p>
          <a:p>
            <a:pPr lvl="1"/>
            <a:r>
              <a:rPr lang="en-IN" dirty="0">
                <a:latin typeface="Montserrat Medium" panose="00000600000000000000" pitchFamily="2" charset="0"/>
              </a:rPr>
              <a:t>Distracted driving and lack of safety check major reasons</a:t>
            </a:r>
          </a:p>
          <a:p>
            <a:pPr marL="457200" lvl="1" indent="0">
              <a:buNone/>
            </a:pPr>
            <a:endParaRPr lang="en-IN" dirty="0">
              <a:latin typeface="Montserrat Medium" panose="00000600000000000000" pitchFamily="2" charset="0"/>
            </a:endParaRPr>
          </a:p>
          <a:p>
            <a:pPr lvl="1"/>
            <a:r>
              <a:rPr lang="en-IN" dirty="0">
                <a:latin typeface="Montserrat Medium" panose="00000600000000000000" pitchFamily="2" charset="0"/>
              </a:rPr>
              <a:t>Aim – To sense a turn and indicate automatically</a:t>
            </a:r>
          </a:p>
          <a:p>
            <a:pPr lvl="1"/>
            <a:endParaRPr lang="en-IN" dirty="0">
              <a:latin typeface="Montserrat Medium" panose="00000600000000000000" pitchFamily="2" charset="0"/>
            </a:endParaRPr>
          </a:p>
          <a:p>
            <a:pPr lvl="1"/>
            <a:r>
              <a:rPr lang="en-IN" dirty="0">
                <a:latin typeface="Montserrat Medium" panose="00000600000000000000" pitchFamily="2" charset="0"/>
              </a:rPr>
              <a:t>A timely indication can avoid a fatal accident</a:t>
            </a:r>
          </a:p>
          <a:p>
            <a:pPr lvl="1"/>
            <a:endParaRPr lang="en-IN" dirty="0">
              <a:latin typeface="Montserrat Medium" panose="00000600000000000000" pitchFamily="2" charset="0"/>
            </a:endParaRPr>
          </a:p>
          <a:p>
            <a:pPr lvl="1"/>
            <a:r>
              <a:rPr lang="en-IN" dirty="0">
                <a:latin typeface="Montserrat Medium" panose="00000600000000000000" pitchFamily="2" charset="0"/>
              </a:rPr>
              <a:t>Additional safety measure – Side stand sensor</a:t>
            </a: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1577A8A9-3BAE-4C0E-9FDD-96188F8044B9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Abstract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33812"/>
            <a:ext cx="479036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32955" y="333812"/>
            <a:ext cx="485904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19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=""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Abstract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6516ABC0-EF46-4159-B4CF-45B14EA929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152902" y="4879971"/>
            <a:ext cx="0" cy="12065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="" xmlns:a16="http://schemas.microsoft.com/office/drawing/2014/main" id="{B1E755E2-4A99-478A-BBEF-ACE16BEBFC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39100" y="4879971"/>
            <a:ext cx="0" cy="12065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51613421-44EB-4EA7-89AE-D8972D473414}"/>
              </a:ext>
            </a:extLst>
          </p:cNvPr>
          <p:cNvSpPr/>
          <p:nvPr/>
        </p:nvSpPr>
        <p:spPr>
          <a:xfrm>
            <a:off x="838205" y="5521007"/>
            <a:ext cx="2743195" cy="470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India witnesses 1214 car crashes daily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71E47AC8-8358-4724-91F8-0D1B21FC5F47}"/>
              </a:ext>
            </a:extLst>
          </p:cNvPr>
          <p:cNvSpPr/>
          <p:nvPr/>
        </p:nvSpPr>
        <p:spPr>
          <a:xfrm>
            <a:off x="838205" y="5000266"/>
            <a:ext cx="2743195" cy="49244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3200" dirty="0">
                <a:solidFill>
                  <a:schemeClr val="accent3">
                    <a:lumMod val="7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1214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="" xmlns:a16="http://schemas.microsoft.com/office/drawing/2014/main" id="{69F7E025-DDEC-4748-AAE9-9FA2A4BF1E49}"/>
              </a:ext>
            </a:extLst>
          </p:cNvPr>
          <p:cNvSpPr/>
          <p:nvPr/>
        </p:nvSpPr>
        <p:spPr>
          <a:xfrm>
            <a:off x="838205" y="4748574"/>
            <a:ext cx="2743195" cy="2271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CAR CRASHES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="" xmlns:a16="http://schemas.microsoft.com/office/drawing/2014/main" id="{84176128-6116-4C3C-9CC3-394E6E116762}"/>
              </a:ext>
            </a:extLst>
          </p:cNvPr>
          <p:cNvSpPr/>
          <p:nvPr/>
        </p:nvSpPr>
        <p:spPr>
          <a:xfrm>
            <a:off x="4724403" y="5521007"/>
            <a:ext cx="2743195" cy="71442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More than 800 people loose their lives daily due to road accidents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839BCDE9-6CF8-45EE-BFA1-6E32ED5C240E}"/>
              </a:ext>
            </a:extLst>
          </p:cNvPr>
          <p:cNvSpPr/>
          <p:nvPr/>
        </p:nvSpPr>
        <p:spPr>
          <a:xfrm>
            <a:off x="4724403" y="5000266"/>
            <a:ext cx="2743195" cy="49244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3200" dirty="0">
                <a:solidFill>
                  <a:schemeClr val="accent4">
                    <a:lumMod val="7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821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="" xmlns:a16="http://schemas.microsoft.com/office/drawing/2014/main" id="{7DDB637A-4822-4FE9-8AEA-11DEA7859049}"/>
              </a:ext>
            </a:extLst>
          </p:cNvPr>
          <p:cNvSpPr/>
          <p:nvPr/>
        </p:nvSpPr>
        <p:spPr>
          <a:xfrm>
            <a:off x="4724403" y="4748574"/>
            <a:ext cx="2743195" cy="2271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DEATHS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="" xmlns:a16="http://schemas.microsoft.com/office/drawing/2014/main" id="{7FA68D61-8BDC-4C14-9F0D-CF0C946CD30A}"/>
              </a:ext>
            </a:extLst>
          </p:cNvPr>
          <p:cNvSpPr/>
          <p:nvPr/>
        </p:nvSpPr>
        <p:spPr>
          <a:xfrm>
            <a:off x="8610600" y="5521007"/>
            <a:ext cx="2743195" cy="71442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Number of insurance claims filed for accident related reasons per year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="" xmlns:a16="http://schemas.microsoft.com/office/drawing/2014/main" id="{B164A1DA-19AA-4A0C-9ED2-92A9346B807A}"/>
              </a:ext>
            </a:extLst>
          </p:cNvPr>
          <p:cNvSpPr/>
          <p:nvPr/>
        </p:nvSpPr>
        <p:spPr>
          <a:xfrm>
            <a:off x="8610600" y="5000266"/>
            <a:ext cx="2743195" cy="49244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80,00,000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="" xmlns:a16="http://schemas.microsoft.com/office/drawing/2014/main" id="{FA4B18CA-09B5-4584-8D25-60B58EF68413}"/>
              </a:ext>
            </a:extLst>
          </p:cNvPr>
          <p:cNvSpPr/>
          <p:nvPr/>
        </p:nvSpPr>
        <p:spPr>
          <a:xfrm>
            <a:off x="8610600" y="4748574"/>
            <a:ext cx="2743195" cy="2271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Insurance Claims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E0941E8-B570-4554-8236-7AC8826F0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5" y="856027"/>
            <a:ext cx="10111662" cy="33556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B192D90-5A34-434A-8D80-325BB2BE52EB}"/>
              </a:ext>
            </a:extLst>
          </p:cNvPr>
          <p:cNvSpPr txBox="1"/>
          <p:nvPr/>
        </p:nvSpPr>
        <p:spPr>
          <a:xfrm>
            <a:off x="838205" y="6386751"/>
            <a:ext cx="9690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ontserrat Medium" panose="00000600000000000000" pitchFamily="2" charset="0"/>
              </a:rPr>
              <a:t>Source - </a:t>
            </a:r>
            <a:r>
              <a:rPr lang="en-US" sz="1200" dirty="0">
                <a:latin typeface="Montserrat Medium" panose="00000600000000000000" pitchFamily="2" charset="0"/>
                <a:hlinkClick r:id="rId4"/>
              </a:rPr>
              <a:t>Analyzing accidents and developing elderly driver-targeted measures based on accident and violation records</a:t>
            </a:r>
            <a:endParaRPr lang="en-IN" sz="1200" dirty="0">
              <a:latin typeface="Montserrat Medium" panose="00000600000000000000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09833"/>
            <a:ext cx="4820575" cy="16871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32955" y="333812"/>
            <a:ext cx="485904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=""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4</a:t>
            </a: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72822" y="16924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/>
              </a:rPr>
              <a:t>Block Diagram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233E4AB5-6FC1-4454-9421-850EF5A4ADF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3758" y="1841500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="" xmlns:a16="http://schemas.microsoft.com/office/drawing/2014/main" id="{91394D4E-BC7A-418D-B233-6C374456AEA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  <a:stCxn id="42" idx="6"/>
          </p:cNvCxnSpPr>
          <p:nvPr/>
        </p:nvCxnSpPr>
        <p:spPr>
          <a:xfrm>
            <a:off x="2131258" y="2635250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="" xmlns:a16="http://schemas.microsoft.com/office/drawing/2014/main" id="{9771041D-83B6-4693-BC25-25AABB3CE3BF}"/>
              </a:ext>
            </a:extLst>
          </p:cNvPr>
          <p:cNvSpPr/>
          <p:nvPr/>
        </p:nvSpPr>
        <p:spPr>
          <a:xfrm>
            <a:off x="651708" y="2512139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Sensor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="" xmlns:a16="http://schemas.microsoft.com/office/drawing/2014/main" id="{9F6EE26A-3174-49AD-900E-08C045755F3C}"/>
              </a:ext>
            </a:extLst>
          </p:cNvPr>
          <p:cNvSpPr/>
          <p:nvPr/>
        </p:nvSpPr>
        <p:spPr>
          <a:xfrm>
            <a:off x="3064738" y="2389029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Implementation Plan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="" xmlns:a16="http://schemas.microsoft.com/office/drawing/2014/main" id="{0F8D1DEA-0363-4C10-925D-1D68E14CCEF4}"/>
              </a:ext>
            </a:extLst>
          </p:cNvPr>
          <p:cNvSpPr/>
          <p:nvPr/>
        </p:nvSpPr>
        <p:spPr>
          <a:xfrm>
            <a:off x="4184314" y="782692"/>
            <a:ext cx="3290683" cy="74481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9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ontserrat Medium" panose="00000600000000000000" pitchFamily="2" charset="0"/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Automatic Bike Turn Indicator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="" xmlns:a16="http://schemas.microsoft.com/office/drawing/2014/main" id="{10259178-A5DE-49A6-A390-BF252047C25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2895786" y="1841500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="" xmlns:a16="http://schemas.microsoft.com/office/drawing/2014/main" id="{32F08CD2-A34C-45F6-B6DF-293BEBD4DB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4483286" y="2635250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01662160-566D-4A81-8541-FE46B22C6AFE}"/>
              </a:ext>
            </a:extLst>
          </p:cNvPr>
          <p:cNvSpPr/>
          <p:nvPr/>
        </p:nvSpPr>
        <p:spPr>
          <a:xfrm>
            <a:off x="3032540" y="2486908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Comparator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7A5A0EF6-9A8E-4EFD-A177-16BCF4575A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246472" y="1841500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EAEAE4F3-1EE2-471E-AFE0-4CE8DFF839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6833972" y="2635250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4409BC85-E2B1-43F3-BBA7-F9281AB426A4}"/>
              </a:ext>
            </a:extLst>
          </p:cNvPr>
          <p:cNvSpPr/>
          <p:nvPr/>
        </p:nvSpPr>
        <p:spPr>
          <a:xfrm>
            <a:off x="5357842" y="2389028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Timing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Circuit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B046608D-AE28-4438-81C6-1F46D39B0B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597158" y="1841500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="" xmlns:a16="http://schemas.microsoft.com/office/drawing/2014/main" id="{282C7E93-58BB-44CB-B54A-76F1616A89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9184658" y="2635250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7C890A01-CD90-418D-9EDC-0D4A5FD63319}"/>
              </a:ext>
            </a:extLst>
          </p:cNvPr>
          <p:cNvSpPr/>
          <p:nvPr/>
        </p:nvSpPr>
        <p:spPr>
          <a:xfrm>
            <a:off x="7700346" y="2363796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Switching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Circuit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E5878E75-12A7-483E-9C35-CE0C6F14E1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947844" y="1816267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8ACDA2A8-8958-4698-9F4E-0EDCC903EE0B}"/>
              </a:ext>
            </a:extLst>
          </p:cNvPr>
          <p:cNvSpPr/>
          <p:nvPr/>
        </p:nvSpPr>
        <p:spPr>
          <a:xfrm>
            <a:off x="10060556" y="2389028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 Indicator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8EC252C2-7B29-40CD-8E58-52E2EDA6122F}"/>
              </a:ext>
            </a:extLst>
          </p:cNvPr>
          <p:cNvSpPr/>
          <p:nvPr/>
        </p:nvSpPr>
        <p:spPr>
          <a:xfrm>
            <a:off x="172822" y="5418241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Sensor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DC4B8D4C-217C-4A36-B5C8-82BCDC02BA1B}"/>
              </a:ext>
            </a:extLst>
          </p:cNvPr>
          <p:cNvSpPr/>
          <p:nvPr/>
        </p:nvSpPr>
        <p:spPr>
          <a:xfrm>
            <a:off x="1977196" y="5295131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Implementation Plan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98C18CF4-0FE1-4670-9F73-52D8839CD4A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808244" y="4747602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2DC11057-DC58-4747-AC6E-E949DD489E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  <a:stCxn id="26" idx="6"/>
          </p:cNvCxnSpPr>
          <p:nvPr/>
        </p:nvCxnSpPr>
        <p:spPr>
          <a:xfrm>
            <a:off x="3395744" y="5541352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364B8196-5DD8-4987-A283-4A1804874EDD}"/>
              </a:ext>
            </a:extLst>
          </p:cNvPr>
          <p:cNvSpPr/>
          <p:nvPr/>
        </p:nvSpPr>
        <p:spPr>
          <a:xfrm>
            <a:off x="1944998" y="5393010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Transmitter</a:t>
            </a:r>
          </a:p>
        </p:txBody>
      </p: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91A32256-B4C1-46BB-B2E7-66A5083EE9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184314" y="4747602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CDB28738-E70E-4290-8380-7DA1134223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5771814" y="5541352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44DDFD86-81B3-4BFD-B96B-E30259970DF5}"/>
              </a:ext>
            </a:extLst>
          </p:cNvPr>
          <p:cNvSpPr/>
          <p:nvPr/>
        </p:nvSpPr>
        <p:spPr>
          <a:xfrm>
            <a:off x="4270300" y="5418241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Receiver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="" xmlns:a16="http://schemas.microsoft.com/office/drawing/2014/main" id="{3CA1AA33-276B-4BAD-B961-34DBF75FEB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509616" y="4747602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="" xmlns:a16="http://schemas.microsoft.com/office/drawing/2014/main" id="{538B3297-6FFC-484A-87FA-AE12013D93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  <a:stCxn id="32" idx="6"/>
          </p:cNvCxnSpPr>
          <p:nvPr/>
        </p:nvCxnSpPr>
        <p:spPr>
          <a:xfrm>
            <a:off x="8097116" y="5541352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D59B2578-98A1-46A2-A098-548AC7747CFD}"/>
              </a:ext>
            </a:extLst>
          </p:cNvPr>
          <p:cNvSpPr/>
          <p:nvPr/>
        </p:nvSpPr>
        <p:spPr>
          <a:xfrm>
            <a:off x="6612804" y="5393009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Comparator</a:t>
            </a:r>
          </a:p>
        </p:txBody>
      </p: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9470DD04-25D0-4BC0-A57A-790F5AEE0C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860302" y="4722369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3FE61FA7-86F7-4D4B-A595-A23606CA88D4}"/>
              </a:ext>
            </a:extLst>
          </p:cNvPr>
          <p:cNvSpPr/>
          <p:nvPr/>
        </p:nvSpPr>
        <p:spPr>
          <a:xfrm>
            <a:off x="8973014" y="5295130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 Indicator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B2FA28ED-54F4-40A8-BF37-261C33B915F1}"/>
              </a:ext>
            </a:extLst>
          </p:cNvPr>
          <p:cNvSpPr/>
          <p:nvPr/>
        </p:nvSpPr>
        <p:spPr>
          <a:xfrm>
            <a:off x="4525728" y="4189570"/>
            <a:ext cx="3290683" cy="25878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cs typeface="Segoe UI" panose="020B0502040204020203" pitchFamily="34" charset="0"/>
              </a:rPr>
              <a:t>Side Stand Sensor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09833"/>
            <a:ext cx="4270300" cy="14946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97158" y="333812"/>
            <a:ext cx="459484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="" xmlns:a16="http://schemas.microsoft.com/office/drawing/2014/main" id="{D4BA68F5-7F41-4F5E-9EAB-64563A7E0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808" y="909037"/>
            <a:ext cx="8770383" cy="4987449"/>
          </a:xfrm>
        </p:spPr>
      </p:pic>
      <p:sp>
        <p:nvSpPr>
          <p:cNvPr id="4" name="Title 1">
            <a:extLst>
              <a:ext uri="{FF2B5EF4-FFF2-40B4-BE49-F238E27FC236}">
                <a16:creationId xmlns="" xmlns:a16="http://schemas.microsoft.com/office/drawing/2014/main" id="{63BF0C04-4180-488F-8855-780BF20B0E2C}"/>
              </a:ext>
            </a:extLst>
          </p:cNvPr>
          <p:cNvSpPr txBox="1">
            <a:spLocks/>
          </p:cNvSpPr>
          <p:nvPr/>
        </p:nvSpPr>
        <p:spPr>
          <a:xfrm>
            <a:off x="228600" y="13344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Circuit Diagram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952B08B-71D0-4249-9ED8-AD9C65F58C80}"/>
              </a:ext>
            </a:extLst>
          </p:cNvPr>
          <p:cNvSpPr txBox="1"/>
          <p:nvPr/>
        </p:nvSpPr>
        <p:spPr>
          <a:xfrm>
            <a:off x="768219" y="6099845"/>
            <a:ext cx="10655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Montserrat Medium" panose="00000600000000000000" pitchFamily="2" charset="0"/>
              </a:rPr>
              <a:t>Automatic Bike Turn Indicator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26704"/>
            <a:ext cx="409724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92763" y="333812"/>
            <a:ext cx="399923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54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F863106-361D-456B-B6B3-95DE8D8A2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430"/>
            <a:ext cx="10515600" cy="5152594"/>
          </a:xfrm>
        </p:spPr>
        <p:txBody>
          <a:bodyPr/>
          <a:lstStyle/>
          <a:p>
            <a:r>
              <a:rPr lang="en-IN" dirty="0">
                <a:latin typeface="Montserrat Medium" panose="00000600000000000000" pitchFamily="2" charset="0"/>
              </a:rPr>
              <a:t>The primary objective of the system is to sense a turn and indicate it accordingly</a:t>
            </a:r>
            <a:r>
              <a:rPr lang="en-IN" dirty="0" smtClean="0">
                <a:latin typeface="Montserrat Medium" panose="00000600000000000000" pitchFamily="2" charset="0"/>
              </a:rPr>
              <a:t>.</a:t>
            </a:r>
            <a:endParaRPr lang="en-IN" dirty="0">
              <a:latin typeface="Montserrat Medium" panose="00000600000000000000" pitchFamily="2" charset="0"/>
            </a:endParaRPr>
          </a:p>
          <a:p>
            <a:pPr marL="0" indent="0">
              <a:buNone/>
            </a:pPr>
            <a:endParaRPr lang="en-IN" dirty="0">
              <a:latin typeface="Montserrat Medium" panose="00000600000000000000" pitchFamily="2" charset="0"/>
            </a:endParaRPr>
          </a:p>
          <a:p>
            <a:r>
              <a:rPr lang="en-IN" dirty="0">
                <a:latin typeface="Montserrat Medium" panose="00000600000000000000" pitchFamily="2" charset="0"/>
              </a:rPr>
              <a:t>To detect the change in coordinates, an accelerometer sensor is used.</a:t>
            </a:r>
          </a:p>
          <a:p>
            <a:pPr marL="0" indent="0">
              <a:buNone/>
            </a:pPr>
            <a:endParaRPr lang="en-IN" dirty="0">
              <a:latin typeface="Montserrat Medium" panose="00000600000000000000" pitchFamily="2" charset="0"/>
            </a:endParaRPr>
          </a:p>
          <a:p>
            <a:r>
              <a:rPr lang="en-IN" dirty="0">
                <a:latin typeface="Montserrat Medium" panose="00000600000000000000" pitchFamily="2" charset="0"/>
              </a:rPr>
              <a:t>The direction is sensed using a comparator </a:t>
            </a:r>
            <a:r>
              <a:rPr lang="en-IN" dirty="0" smtClean="0">
                <a:latin typeface="Montserrat Medium" panose="00000600000000000000" pitchFamily="2" charset="0"/>
              </a:rPr>
              <a:t>circuit</a:t>
            </a:r>
          </a:p>
          <a:p>
            <a:endParaRPr lang="en-IN" dirty="0">
              <a:latin typeface="Montserrat Medium" panose="00000600000000000000" pitchFamily="2" charset="0"/>
            </a:endParaRPr>
          </a:p>
          <a:p>
            <a:r>
              <a:rPr lang="en-IN" dirty="0" err="1" smtClean="0">
                <a:latin typeface="Montserrat Medium" panose="00000600000000000000" pitchFamily="2" charset="0"/>
              </a:rPr>
              <a:t>Monostable</a:t>
            </a:r>
            <a:r>
              <a:rPr lang="en-IN" dirty="0" smtClean="0">
                <a:latin typeface="Montserrat Medium" panose="00000600000000000000" pitchFamily="2" charset="0"/>
              </a:rPr>
              <a:t> </a:t>
            </a:r>
            <a:r>
              <a:rPr lang="en-IN" dirty="0" err="1" smtClean="0">
                <a:latin typeface="Montserrat Medium" panose="00000600000000000000" pitchFamily="2" charset="0"/>
              </a:rPr>
              <a:t>multivibrator</a:t>
            </a:r>
            <a:r>
              <a:rPr lang="en-IN" dirty="0" smtClean="0">
                <a:latin typeface="Montserrat Medium" panose="00000600000000000000" pitchFamily="2" charset="0"/>
              </a:rPr>
              <a:t> is used to get desired output. Output duration is 1.1RC = 5.17 secs.</a:t>
            </a:r>
            <a:endParaRPr lang="en-IN" dirty="0">
              <a:latin typeface="Montserrat Medium" panose="00000600000000000000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4DD97820-7BB5-46F1-A3F4-A19A65C1A6EA}"/>
              </a:ext>
            </a:extLst>
          </p:cNvPr>
          <p:cNvSpPr txBox="1">
            <a:spLocks/>
          </p:cNvSpPr>
          <p:nvPr/>
        </p:nvSpPr>
        <p:spPr>
          <a:xfrm>
            <a:off x="228600" y="154989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Designing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26704"/>
            <a:ext cx="464023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4507" y="333812"/>
            <a:ext cx="461749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87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1FC7EE-61E0-4051-90D5-02AE4C5C7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146"/>
            <a:ext cx="10515600" cy="1325563"/>
          </a:xfrm>
        </p:spPr>
        <p:txBody>
          <a:bodyPr/>
          <a:lstStyle/>
          <a:p>
            <a:r>
              <a:rPr lang="en-IN" dirty="0">
                <a:latin typeface="Montserrat Medium" panose="00000600000000000000" pitchFamily="2" charset="0"/>
              </a:rPr>
              <a:t>Working of Sensor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046811B-5EA8-431E-AF15-76DAD55FA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491" y="1978079"/>
            <a:ext cx="7373645" cy="4410307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Montserrat Medium" panose="00000600000000000000" pitchFamily="2" charset="0"/>
              </a:rPr>
              <a:t>Only Y coordinates are measured in this circuit</a:t>
            </a:r>
          </a:p>
          <a:p>
            <a:endParaRPr lang="en-IN" sz="2400" dirty="0">
              <a:latin typeface="Montserrat Medium" panose="00000600000000000000" pitchFamily="2" charset="0"/>
            </a:endParaRPr>
          </a:p>
          <a:p>
            <a:r>
              <a:rPr lang="en-IN" sz="2400" dirty="0">
                <a:latin typeface="Montserrat Medium" panose="00000600000000000000" pitchFamily="2" charset="0"/>
              </a:rPr>
              <a:t>Sensor detects the change in coordinates w.r.t change in ‘g’</a:t>
            </a:r>
          </a:p>
          <a:p>
            <a:endParaRPr lang="en-IN" sz="2400" dirty="0">
              <a:latin typeface="Montserrat Medium" panose="00000600000000000000" pitchFamily="2" charset="0"/>
            </a:endParaRPr>
          </a:p>
          <a:p>
            <a:r>
              <a:rPr lang="en-IN" sz="2400" dirty="0">
                <a:latin typeface="Montserrat Medium" panose="00000600000000000000" pitchFamily="2" charset="0"/>
              </a:rPr>
              <a:t>Voltage at steady position – 1.6V</a:t>
            </a:r>
          </a:p>
          <a:p>
            <a:endParaRPr lang="en-IN" sz="2400" dirty="0">
              <a:latin typeface="Montserrat Medium" panose="00000600000000000000" pitchFamily="2" charset="0"/>
            </a:endParaRPr>
          </a:p>
          <a:p>
            <a:r>
              <a:rPr lang="en-IN" sz="2400" dirty="0">
                <a:latin typeface="Montserrat Medium" panose="00000600000000000000" pitchFamily="2" charset="0"/>
              </a:rPr>
              <a:t>Right Turn – o/p voltage decreases</a:t>
            </a:r>
          </a:p>
          <a:p>
            <a:endParaRPr lang="en-IN" sz="2400" dirty="0">
              <a:latin typeface="Montserrat Medium" panose="00000600000000000000" pitchFamily="2" charset="0"/>
            </a:endParaRPr>
          </a:p>
          <a:p>
            <a:r>
              <a:rPr lang="en-IN" sz="2400" dirty="0">
                <a:latin typeface="Montserrat Medium" panose="00000600000000000000" pitchFamily="2" charset="0"/>
              </a:rPr>
              <a:t>Left Turn – o/p voltage increases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B6D402A8-7F1A-4793-9915-DB8DBC43726C}"/>
              </a:ext>
            </a:extLst>
          </p:cNvPr>
          <p:cNvSpPr txBox="1">
            <a:spLocks/>
          </p:cNvSpPr>
          <p:nvPr/>
        </p:nvSpPr>
        <p:spPr>
          <a:xfrm>
            <a:off x="228600" y="150163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Working 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2D0F49A0-1D4A-4F8E-8F4F-E691AA006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136" y="1850948"/>
            <a:ext cx="3884974" cy="466456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26704"/>
            <a:ext cx="477671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42496" y="333812"/>
            <a:ext cx="484950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12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5BF9FE2F-3154-4FA5-8C6E-3E116473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146"/>
            <a:ext cx="10515600" cy="1325563"/>
          </a:xfrm>
        </p:spPr>
        <p:txBody>
          <a:bodyPr/>
          <a:lstStyle/>
          <a:p>
            <a:r>
              <a:rPr lang="en-IN" dirty="0">
                <a:latin typeface="Montserrat Medium" panose="00000600000000000000" pitchFamily="2" charset="0"/>
              </a:rPr>
              <a:t>Working of Comparator Circuit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D1E26BD-EBFE-419E-94E8-401C55AFF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2860"/>
            <a:ext cx="10266623" cy="4410307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Montserrat Medium" panose="00000600000000000000" pitchFamily="2" charset="0"/>
              </a:rPr>
              <a:t>Inverting Terminal &gt; Non Inverting Terminal = High</a:t>
            </a:r>
          </a:p>
          <a:p>
            <a:r>
              <a:rPr lang="en-IN" sz="2400" dirty="0">
                <a:latin typeface="Montserrat Medium" panose="00000600000000000000" pitchFamily="2" charset="0"/>
              </a:rPr>
              <a:t>Inverting Terminal &lt; Non Inverting Terminal = Low</a:t>
            </a:r>
          </a:p>
          <a:p>
            <a:r>
              <a:rPr lang="en-IN" sz="2400" dirty="0">
                <a:latin typeface="Montserrat Medium" panose="00000600000000000000" pitchFamily="2" charset="0"/>
              </a:rPr>
              <a:t>Threshold voltage set on basis of accelerometer sensor</a:t>
            </a:r>
          </a:p>
          <a:p>
            <a:endParaRPr lang="en-IN" sz="2400" dirty="0">
              <a:latin typeface="Montserrat Medium" panose="00000600000000000000" pitchFamily="2" charset="0"/>
            </a:endParaRPr>
          </a:p>
          <a:p>
            <a:r>
              <a:rPr lang="en-IN" sz="2400" dirty="0">
                <a:latin typeface="Montserrat Medium" panose="00000600000000000000" pitchFamily="2" charset="0"/>
              </a:rPr>
              <a:t>Right turn -&gt; Voltage </a:t>
            </a:r>
            <a:r>
              <a:rPr lang="en-IN" sz="2400" dirty="0" err="1">
                <a:latin typeface="Montserrat Medium" panose="00000600000000000000" pitchFamily="2" charset="0"/>
              </a:rPr>
              <a:t>dec.</a:t>
            </a:r>
            <a:r>
              <a:rPr lang="en-IN" sz="2400" dirty="0">
                <a:latin typeface="Montserrat Medium" panose="00000600000000000000" pitchFamily="2" charset="0"/>
              </a:rPr>
              <a:t> </a:t>
            </a:r>
          </a:p>
          <a:p>
            <a:pPr lvl="1"/>
            <a:r>
              <a:rPr lang="en-IN" sz="2000" dirty="0">
                <a:latin typeface="Montserrat Medium" panose="00000600000000000000" pitchFamily="2" charset="0"/>
              </a:rPr>
              <a:t>Sensor out  +</a:t>
            </a:r>
            <a:r>
              <a:rPr lang="en-IN" sz="2000" dirty="0" err="1">
                <a:latin typeface="Montserrat Medium" panose="00000600000000000000" pitchFamily="2" charset="0"/>
              </a:rPr>
              <a:t>ve</a:t>
            </a:r>
            <a:r>
              <a:rPr lang="en-IN" sz="2000" dirty="0">
                <a:latin typeface="Montserrat Medium" panose="00000600000000000000" pitchFamily="2" charset="0"/>
              </a:rPr>
              <a:t> Terminal</a:t>
            </a:r>
          </a:p>
          <a:p>
            <a:pPr lvl="1"/>
            <a:r>
              <a:rPr lang="en-IN" sz="2000" dirty="0">
                <a:latin typeface="Montserrat Medium" panose="00000600000000000000" pitchFamily="2" charset="0"/>
              </a:rPr>
              <a:t>Threshold    -</a:t>
            </a:r>
            <a:r>
              <a:rPr lang="en-IN" sz="2000" dirty="0" err="1">
                <a:latin typeface="Montserrat Medium" panose="00000600000000000000" pitchFamily="2" charset="0"/>
              </a:rPr>
              <a:t>ve</a:t>
            </a:r>
            <a:r>
              <a:rPr lang="en-IN" sz="2000" dirty="0">
                <a:latin typeface="Montserrat Medium" panose="00000600000000000000" pitchFamily="2" charset="0"/>
              </a:rPr>
              <a:t>  Terminal </a:t>
            </a:r>
          </a:p>
          <a:p>
            <a:pPr marL="457200" lvl="1" indent="0">
              <a:buNone/>
            </a:pPr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400" dirty="0">
                <a:latin typeface="Montserrat Medium" panose="00000600000000000000" pitchFamily="2" charset="0"/>
              </a:rPr>
              <a:t>Left Turn -&gt; Voltage </a:t>
            </a:r>
            <a:r>
              <a:rPr lang="en-IN" sz="2400" dirty="0" err="1">
                <a:latin typeface="Montserrat Medium" panose="00000600000000000000" pitchFamily="2" charset="0"/>
              </a:rPr>
              <a:t>inc.</a:t>
            </a:r>
            <a:endParaRPr lang="en-IN" sz="2400" dirty="0">
              <a:latin typeface="Montserrat Medium" panose="00000600000000000000" pitchFamily="2" charset="0"/>
            </a:endParaRPr>
          </a:p>
          <a:p>
            <a:pPr lvl="1"/>
            <a:r>
              <a:rPr lang="en-IN" sz="2000" dirty="0">
                <a:latin typeface="Montserrat Medium" panose="00000600000000000000" pitchFamily="2" charset="0"/>
              </a:rPr>
              <a:t>Sensor out  -</a:t>
            </a:r>
            <a:r>
              <a:rPr lang="en-IN" sz="2000" dirty="0" err="1">
                <a:latin typeface="Montserrat Medium" panose="00000600000000000000" pitchFamily="2" charset="0"/>
              </a:rPr>
              <a:t>ve</a:t>
            </a:r>
            <a:r>
              <a:rPr lang="en-IN" sz="2000" dirty="0">
                <a:latin typeface="Montserrat Medium" panose="00000600000000000000" pitchFamily="2" charset="0"/>
              </a:rPr>
              <a:t> Terminal</a:t>
            </a:r>
          </a:p>
          <a:p>
            <a:pPr lvl="1"/>
            <a:r>
              <a:rPr lang="en-IN" sz="2000" dirty="0">
                <a:latin typeface="Montserrat Medium" panose="00000600000000000000" pitchFamily="2" charset="0"/>
              </a:rPr>
              <a:t>Threshold    +</a:t>
            </a:r>
            <a:r>
              <a:rPr lang="en-IN" sz="2000" dirty="0" err="1">
                <a:latin typeface="Montserrat Medium" panose="00000600000000000000" pitchFamily="2" charset="0"/>
              </a:rPr>
              <a:t>ve</a:t>
            </a:r>
            <a:r>
              <a:rPr lang="en-IN" sz="2000" dirty="0">
                <a:latin typeface="Montserrat Medium" panose="00000600000000000000" pitchFamily="2" charset="0"/>
              </a:rPr>
              <a:t>  Terminal </a:t>
            </a:r>
          </a:p>
          <a:p>
            <a:endParaRPr lang="en-IN" sz="2400" dirty="0">
              <a:latin typeface="Montserrat Medium" panose="00000600000000000000" pitchFamily="2" charset="0"/>
            </a:endParaRPr>
          </a:p>
          <a:p>
            <a:endParaRPr lang="en-IN" sz="2400" dirty="0">
              <a:latin typeface="Montserrat Medium" panose="00000600000000000000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045D2E9C-AC40-4704-8F1A-204D3A105D07}"/>
              </a:ext>
            </a:extLst>
          </p:cNvPr>
          <p:cNvSpPr txBox="1">
            <a:spLocks/>
          </p:cNvSpPr>
          <p:nvPr/>
        </p:nvSpPr>
        <p:spPr>
          <a:xfrm>
            <a:off x="228600" y="117772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Working 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26704"/>
            <a:ext cx="481766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97087" y="333812"/>
            <a:ext cx="479491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90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0BE8E2D0-085C-4DBD-9928-96F8283FE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3669"/>
            <a:ext cx="10515600" cy="1325563"/>
          </a:xfrm>
        </p:spPr>
        <p:txBody>
          <a:bodyPr/>
          <a:lstStyle/>
          <a:p>
            <a:r>
              <a:rPr lang="en-IN" dirty="0">
                <a:latin typeface="Montserrat Medium" panose="00000600000000000000" pitchFamily="2" charset="0"/>
              </a:rPr>
              <a:t>Working of Timing Circuit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09FCC85B-1A35-44AE-9961-2E2185DD2925}"/>
              </a:ext>
            </a:extLst>
          </p:cNvPr>
          <p:cNvSpPr txBox="1">
            <a:spLocks/>
          </p:cNvSpPr>
          <p:nvPr/>
        </p:nvSpPr>
        <p:spPr>
          <a:xfrm>
            <a:off x="228600" y="10587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Working 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D14D8494-DEDB-48C7-AD6F-DB3CAE903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Montserrat Medium" panose="00000600000000000000" pitchFamily="2" charset="0"/>
              </a:rPr>
              <a:t>Monostable multivibrator requires trigger </a:t>
            </a:r>
            <a:r>
              <a:rPr lang="en-IN" sz="2400" dirty="0" err="1">
                <a:latin typeface="Montserrat Medium" panose="00000600000000000000" pitchFamily="2" charset="0"/>
              </a:rPr>
              <a:t>i</a:t>
            </a:r>
            <a:r>
              <a:rPr lang="en-IN" sz="2400" dirty="0">
                <a:latin typeface="Montserrat Medium" panose="00000600000000000000" pitchFamily="2" charset="0"/>
              </a:rPr>
              <a:t>/p</a:t>
            </a:r>
          </a:p>
          <a:p>
            <a:pPr marL="0" indent="0">
              <a:buNone/>
            </a:pPr>
            <a:endParaRPr lang="en-IN" sz="2400" dirty="0">
              <a:latin typeface="Montserrat Medium" panose="00000600000000000000" pitchFamily="2" charset="0"/>
            </a:endParaRPr>
          </a:p>
          <a:p>
            <a:r>
              <a:rPr lang="en-IN" sz="2400" dirty="0">
                <a:latin typeface="Montserrat Medium" panose="00000600000000000000" pitchFamily="2" charset="0"/>
              </a:rPr>
              <a:t>When bike handle is turned and comes back to original position, a trigger pulse is generated</a:t>
            </a:r>
          </a:p>
          <a:p>
            <a:endParaRPr lang="en-IN" sz="2400" dirty="0">
              <a:latin typeface="Montserrat Medium" panose="00000600000000000000" pitchFamily="2" charset="0"/>
            </a:endParaRPr>
          </a:p>
          <a:p>
            <a:r>
              <a:rPr lang="en-IN" sz="2400" dirty="0">
                <a:latin typeface="Montserrat Medium" panose="00000600000000000000" pitchFamily="2" charset="0"/>
              </a:rPr>
              <a:t>This is caused by the effect of turn on comparator output</a:t>
            </a:r>
          </a:p>
          <a:p>
            <a:endParaRPr lang="en-IN" sz="2400" dirty="0">
              <a:latin typeface="Montserrat Medium" panose="00000600000000000000" pitchFamily="2" charset="0"/>
            </a:endParaRPr>
          </a:p>
          <a:p>
            <a:r>
              <a:rPr lang="en-IN" sz="2400" dirty="0">
                <a:latin typeface="Montserrat Medium" panose="00000600000000000000" pitchFamily="2" charset="0"/>
              </a:rPr>
              <a:t>Once triggered,  555 IC generates a pulse width delay of 5.17 seconds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26704"/>
            <a:ext cx="481766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97087" y="333812"/>
            <a:ext cx="479491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3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A3BBE6C5-BDAE-47E8-AEBD-8D8720F690CA}"/>
              </a:ext>
            </a:extLst>
          </p:cNvPr>
          <p:cNvSpPr txBox="1">
            <a:spLocks/>
          </p:cNvSpPr>
          <p:nvPr/>
        </p:nvSpPr>
        <p:spPr>
          <a:xfrm>
            <a:off x="228600" y="13344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Circuit Diagram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9A3E784F-4F66-40B1-881A-8C4963559D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09833"/>
            <a:ext cx="417621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88AAA1E7-DC90-4941-9994-3CA4AD0664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11236" y="333812"/>
            <a:ext cx="418076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BDE0668A-F74F-4514-B4AC-6EDE0451F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417" y="834636"/>
            <a:ext cx="9277165" cy="5188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42A6329-7407-4973-B946-A2B2642BF9B5}"/>
              </a:ext>
            </a:extLst>
          </p:cNvPr>
          <p:cNvSpPr txBox="1"/>
          <p:nvPr/>
        </p:nvSpPr>
        <p:spPr>
          <a:xfrm>
            <a:off x="768219" y="6099845"/>
            <a:ext cx="10655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Montserrat Medium" panose="00000600000000000000" pitchFamily="2" charset="0"/>
              </a:rPr>
              <a:t>Side Stand Sensor</a:t>
            </a:r>
          </a:p>
        </p:txBody>
      </p:sp>
    </p:spTree>
    <p:extLst>
      <p:ext uri="{BB962C8B-B14F-4D97-AF65-F5344CB8AC3E}">
        <p14:creationId xmlns:p14="http://schemas.microsoft.com/office/powerpoint/2010/main" val="136393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2FF457B1-9059-413B-B0B1-B146FD9E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430"/>
            <a:ext cx="10515600" cy="5152594"/>
          </a:xfrm>
        </p:spPr>
        <p:txBody>
          <a:bodyPr/>
          <a:lstStyle/>
          <a:p>
            <a:r>
              <a:rPr lang="en-IN" dirty="0">
                <a:latin typeface="Montserrat Medium" panose="00000600000000000000" pitchFamily="2" charset="0"/>
              </a:rPr>
              <a:t>For stand sensor, we wish to indicate when the stand is not lifted</a:t>
            </a:r>
          </a:p>
          <a:p>
            <a:endParaRPr lang="en-IN" dirty="0">
              <a:latin typeface="Montserrat Medium" panose="00000600000000000000" pitchFamily="2" charset="0"/>
            </a:endParaRPr>
          </a:p>
          <a:p>
            <a:r>
              <a:rPr lang="en-IN" dirty="0">
                <a:latin typeface="Montserrat Medium" panose="00000600000000000000" pitchFamily="2" charset="0"/>
              </a:rPr>
              <a:t>IR sensor is used to detect distance b/w ground and stand</a:t>
            </a:r>
          </a:p>
          <a:p>
            <a:endParaRPr lang="en-IN" dirty="0">
              <a:latin typeface="Montserrat Medium" panose="00000600000000000000" pitchFamily="2" charset="0"/>
            </a:endParaRPr>
          </a:p>
          <a:p>
            <a:r>
              <a:rPr lang="en-IN" dirty="0">
                <a:latin typeface="Montserrat Medium" panose="00000600000000000000" pitchFamily="2" charset="0"/>
              </a:rPr>
              <a:t>Side stand down -&gt; Negligible distance </a:t>
            </a:r>
          </a:p>
          <a:p>
            <a:endParaRPr lang="en-IN" dirty="0">
              <a:latin typeface="Montserrat Medium" panose="00000600000000000000" pitchFamily="2" charset="0"/>
            </a:endParaRPr>
          </a:p>
          <a:p>
            <a:r>
              <a:rPr lang="en-IN" dirty="0">
                <a:latin typeface="Montserrat Medium" panose="00000600000000000000" pitchFamily="2" charset="0"/>
              </a:rPr>
              <a:t>Side stand lifted -&gt; Considerable distance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105F3182-3C6B-4F60-AEE6-5F326EB299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09833"/>
            <a:ext cx="4820575" cy="16871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2D1129BD-E54F-42D9-919D-F1CE9D4352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32955" y="333812"/>
            <a:ext cx="485904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454F0C5D-27D0-47B3-A3A5-975F7893BCED}"/>
              </a:ext>
            </a:extLst>
          </p:cNvPr>
          <p:cNvSpPr txBox="1">
            <a:spLocks/>
          </p:cNvSpPr>
          <p:nvPr/>
        </p:nvSpPr>
        <p:spPr>
          <a:xfrm>
            <a:off x="228600" y="154989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Designing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64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4A0EA039-C616-4648-B831-4B86A2AF5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3669"/>
            <a:ext cx="10515600" cy="1325563"/>
          </a:xfrm>
        </p:spPr>
        <p:txBody>
          <a:bodyPr/>
          <a:lstStyle/>
          <a:p>
            <a:r>
              <a:rPr lang="en-IN" dirty="0">
                <a:latin typeface="Montserrat Medium" panose="00000600000000000000" pitchFamily="2" charset="0"/>
              </a:rPr>
              <a:t>Working of Side Stand Circuit</a:t>
            </a:r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88E089AE-A9A2-4CEB-8B8D-6E02CDA427D2}"/>
              </a:ext>
            </a:extLst>
          </p:cNvPr>
          <p:cNvSpPr txBox="1">
            <a:spLocks/>
          </p:cNvSpPr>
          <p:nvPr/>
        </p:nvSpPr>
        <p:spPr>
          <a:xfrm>
            <a:off x="228600" y="10587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Working 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207EE14E-EFEE-4551-A088-E9A75151E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Montserrat Medium" panose="00000600000000000000" pitchFamily="2" charset="0"/>
              </a:rPr>
              <a:t>IR Sensor shows o/p when Tx signals are reflected back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>
                <a:latin typeface="Montserrat Medium" panose="00000600000000000000" pitchFamily="2" charset="0"/>
              </a:rPr>
              <a:t>Side stand down -&gt; Negligible distance -&gt; Tx signal reflected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>
                <a:latin typeface="Montserrat Medium" panose="00000600000000000000" pitchFamily="2" charset="0"/>
              </a:rPr>
              <a:t>Side stand lifted -&gt; Considerable distance -&gt; Tx signal flows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>
                <a:latin typeface="Montserrat Medium" panose="00000600000000000000" pitchFamily="2" charset="0"/>
              </a:rPr>
              <a:t>Comparator compares threshold and o/p voltage of IR sensor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>
                <a:latin typeface="Montserrat Medium" panose="00000600000000000000" pitchFamily="2" charset="0"/>
              </a:rPr>
              <a:t>Sensitivity varied by varying threshold(by potentiometer)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endParaRPr lang="en-IN" sz="2000" dirty="0">
              <a:latin typeface="Montserrat Medium" panose="000006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26704"/>
            <a:ext cx="481766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97087" y="333812"/>
            <a:ext cx="479491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00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=""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69543" y="12522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/>
              </a:rPr>
              <a:t>Limitations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476619AD-2E0C-41A4-B4E2-A8FE4E67AD6D}"/>
              </a:ext>
            </a:extLst>
          </p:cNvPr>
          <p:cNvSpPr txBox="1">
            <a:spLocks/>
          </p:cNvSpPr>
          <p:nvPr/>
        </p:nvSpPr>
        <p:spPr>
          <a:xfrm>
            <a:off x="763555" y="1253331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Montserrat Medium" panose="00000600000000000000" pitchFamily="2" charset="0"/>
              </a:rPr>
              <a:t>Sensitivity of </a:t>
            </a:r>
            <a:r>
              <a:rPr lang="en-IN" sz="2000" dirty="0" smtClean="0">
                <a:latin typeface="Montserrat Medium" panose="00000600000000000000" pitchFamily="2" charset="0"/>
              </a:rPr>
              <a:t>sensor.</a:t>
            </a:r>
            <a:endParaRPr lang="en-IN" sz="2000" dirty="0">
              <a:latin typeface="Montserrat Medium" panose="000006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>
                <a:latin typeface="Montserrat Medium" panose="00000600000000000000" pitchFamily="2" charset="0"/>
              </a:rPr>
              <a:t>Circuit </a:t>
            </a:r>
            <a:r>
              <a:rPr lang="en-IN" sz="2000" dirty="0" smtClean="0">
                <a:latin typeface="Montserrat Medium" panose="00000600000000000000" pitchFamily="2" charset="0"/>
              </a:rPr>
              <a:t>is turned </a:t>
            </a:r>
            <a:r>
              <a:rPr lang="en-IN" sz="2000" dirty="0">
                <a:latin typeface="Montserrat Medium" panose="00000600000000000000" pitchFamily="2" charset="0"/>
              </a:rPr>
              <a:t>on only after handle is moved. 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>
                <a:latin typeface="Montserrat Medium" panose="00000600000000000000" pitchFamily="2" charset="0"/>
              </a:rPr>
              <a:t>Impossible to analyse data using hardware only, development boards required.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 smtClean="0">
                <a:latin typeface="Montserrat Medium" panose="00000600000000000000" pitchFamily="2" charset="0"/>
              </a:rPr>
              <a:t>Side stand detector works best during daytime.</a:t>
            </a:r>
            <a:endParaRPr lang="en-IN" sz="2000" dirty="0">
              <a:latin typeface="Montserrat Medium" panose="000006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26704"/>
            <a:ext cx="450376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83690" y="333812"/>
            <a:ext cx="450831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6DBBA730-C0EA-48BA-B83E-D71D66403776}"/>
              </a:ext>
            </a:extLst>
          </p:cNvPr>
          <p:cNvSpPr txBox="1">
            <a:spLocks/>
          </p:cNvSpPr>
          <p:nvPr/>
        </p:nvSpPr>
        <p:spPr>
          <a:xfrm>
            <a:off x="191278" y="121879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/>
              </a:rPr>
              <a:t>Applications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</a:rPr>
              <a:t> 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513E6BF8-3650-4908-B23E-9590BF59EC3E}"/>
              </a:ext>
            </a:extLst>
          </p:cNvPr>
          <p:cNvSpPr txBox="1">
            <a:spLocks/>
          </p:cNvSpPr>
          <p:nvPr/>
        </p:nvSpPr>
        <p:spPr>
          <a:xfrm>
            <a:off x="800878" y="2101829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>
              <a:latin typeface="Montserrat Medium" panose="000006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F91D3ED8-27DC-492F-85EE-4606B6FB3B4E}"/>
              </a:ext>
            </a:extLst>
          </p:cNvPr>
          <p:cNvSpPr txBox="1">
            <a:spLocks/>
          </p:cNvSpPr>
          <p:nvPr/>
        </p:nvSpPr>
        <p:spPr>
          <a:xfrm>
            <a:off x="698242" y="1269312"/>
            <a:ext cx="10515600" cy="43513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Montserrat Medium" panose="00000600000000000000" pitchFamily="2" charset="0"/>
              </a:rPr>
              <a:t>Safety measure for absent minded </a:t>
            </a:r>
            <a:r>
              <a:rPr lang="en-IN" sz="2000" dirty="0" smtClean="0">
                <a:latin typeface="Montserrat Medium" panose="00000600000000000000" pitchFamily="2" charset="0"/>
              </a:rPr>
              <a:t>drivers</a:t>
            </a:r>
            <a:endParaRPr lang="en-IN" sz="2000" dirty="0">
              <a:latin typeface="Montserrat Medium" panose="00000600000000000000" pitchFamily="2" charset="0"/>
            </a:endParaRP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>
                <a:latin typeface="Montserrat Medium" panose="00000600000000000000" pitchFamily="2" charset="0"/>
              </a:rPr>
              <a:t>A functionality found in  luxury cars only, now available to everyone 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>
                <a:latin typeface="Montserrat Medium" panose="00000600000000000000" pitchFamily="2" charset="0"/>
              </a:rPr>
              <a:t>Much cheaper as compared to the ones present in market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>
                <a:latin typeface="Montserrat Medium" panose="00000600000000000000" pitchFamily="2" charset="0"/>
              </a:rPr>
              <a:t>Automatically turns off indicator after turn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>
                <a:latin typeface="Montserrat Medium" panose="00000600000000000000" pitchFamily="2" charset="0"/>
              </a:rPr>
              <a:t>Indicates if side stand is not raised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  <a:p>
            <a:r>
              <a:rPr lang="en-IN" sz="2000" dirty="0" smtClean="0">
                <a:latin typeface="Montserrat Medium" panose="00000600000000000000" pitchFamily="2" charset="0"/>
              </a:rPr>
              <a:t>Also useful</a:t>
            </a:r>
            <a:r>
              <a:rPr lang="en-IN" sz="2000" dirty="0" smtClean="0">
                <a:latin typeface="Montserrat Medium" panose="00000600000000000000" pitchFamily="2" charset="0"/>
              </a:rPr>
              <a:t> </a:t>
            </a:r>
            <a:r>
              <a:rPr lang="en-IN" sz="2000" dirty="0">
                <a:latin typeface="Montserrat Medium" panose="00000600000000000000" pitchFamily="2" charset="0"/>
              </a:rPr>
              <a:t>while changing lanes</a:t>
            </a:r>
          </a:p>
          <a:p>
            <a:endParaRPr lang="en-IN" sz="2000" dirty="0">
              <a:latin typeface="Montserrat Medium" panose="000006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C28868BA-FEA1-42DA-BACD-DE29CF7CE3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26704"/>
            <a:ext cx="420351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DC9046C6-B7FD-4684-8CF9-B993020BD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74758" y="333812"/>
            <a:ext cx="431724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76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45C4AEFE-A248-4281-A7F8-3EE9098949E0}"/>
              </a:ext>
            </a:extLst>
          </p:cNvPr>
          <p:cNvSpPr txBox="1">
            <a:spLocks/>
          </p:cNvSpPr>
          <p:nvPr/>
        </p:nvSpPr>
        <p:spPr>
          <a:xfrm>
            <a:off x="153955" y="128775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8E038D6E-BBC5-4F20-94AA-43F8D65A6950}"/>
              </a:ext>
            </a:extLst>
          </p:cNvPr>
          <p:cNvSpPr txBox="1">
            <a:spLocks/>
          </p:cNvSpPr>
          <p:nvPr/>
        </p:nvSpPr>
        <p:spPr>
          <a:xfrm>
            <a:off x="763555" y="128062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 smtClean="0">
                <a:latin typeface="Montserrat Medium" panose="00000600000000000000" pitchFamily="2" charset="0"/>
              </a:rPr>
              <a:t>This circuit can be used for automatic turn indication and it can be considered as a useful safety feature.</a:t>
            </a:r>
          </a:p>
          <a:p>
            <a:r>
              <a:rPr lang="en-IN" sz="2400" dirty="0" smtClean="0">
                <a:latin typeface="Montserrat Medium" panose="00000600000000000000" pitchFamily="2" charset="0"/>
              </a:rPr>
              <a:t>Side stand detector will alarm the driver when stand is open but this feature will be fruitful during day time.</a:t>
            </a:r>
          </a:p>
          <a:p>
            <a:r>
              <a:rPr lang="en-IN" sz="2400" dirty="0" smtClean="0">
                <a:latin typeface="Montserrat Medium" panose="00000600000000000000" pitchFamily="2" charset="0"/>
              </a:rPr>
              <a:t>Turn indicator will remain in ON state once triggered for approximately 5.17 seconds.</a:t>
            </a:r>
            <a:endParaRPr lang="en-IN" sz="2400" dirty="0">
              <a:latin typeface="Montserrat Medium" panose="00000600000000000000" pitchFamily="2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9A3E784F-4F66-40B1-881A-8C4963559D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09833"/>
            <a:ext cx="449011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88AAA1E7-DC90-4941-9994-3CA4AD0664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92621" y="333812"/>
            <a:ext cx="469937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92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62A21665-C64F-4BDA-B2DE-442D706057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612306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=""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=""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=""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 smtClean="0">
                <a:solidFill>
                  <a:schemeClr val="bg1"/>
                </a:solidFill>
                <a:latin typeface="Montserrat Medium"/>
              </a:rPr>
              <a:t>Thank You</a:t>
            </a:r>
            <a:endParaRPr lang="en-US" sz="7200" b="1" dirty="0">
              <a:solidFill>
                <a:schemeClr val="bg1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71af3243-3dd4-4a8d-8c0d-dd76da1f02a5"/>
    <ds:schemaRef ds:uri="http://purl.org/dc/elements/1.1/"/>
    <ds:schemaRef ds:uri="http://www.w3.org/XML/1998/namespace"/>
    <ds:schemaRef ds:uri="http://purl.org/dc/dcmitype/"/>
    <ds:schemaRef ds:uri="16c05727-aa75-4e4a-9b5f-8a80a1165891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0</TotalTime>
  <Words>656</Words>
  <Application>Microsoft Office PowerPoint</Application>
  <PresentationFormat>Widescreen</PresentationFormat>
  <Paragraphs>158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Montserrat Medium</vt:lpstr>
      <vt:lpstr>Segoe UI</vt:lpstr>
      <vt:lpstr>Segoe UI Light</vt:lpstr>
      <vt:lpstr>Office Theme</vt:lpstr>
      <vt:lpstr>Bike Turn Indicator with Side Stand Sensor </vt:lpstr>
      <vt:lpstr>Project analysis slide 2</vt:lpstr>
      <vt:lpstr>PowerPoint Presentation</vt:lpstr>
      <vt:lpstr>Project analysis slide 5</vt:lpstr>
      <vt:lpstr>Project analysis slide 4</vt:lpstr>
      <vt:lpstr>PowerPoint Presentation</vt:lpstr>
      <vt:lpstr>PowerPoint Presentation</vt:lpstr>
      <vt:lpstr>Working of Sensor Circuit</vt:lpstr>
      <vt:lpstr>Working of Comparator Circuit</vt:lpstr>
      <vt:lpstr>Working of Timing Circuit</vt:lpstr>
      <vt:lpstr>PowerPoint Presentation</vt:lpstr>
      <vt:lpstr>PowerPoint Presentation</vt:lpstr>
      <vt:lpstr>Working of Side Stand Circuit</vt:lpstr>
      <vt:lpstr>Project analysis slide 8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2019-09-18T11:41:29Z</dcterms:created>
  <dcterms:modified xsi:type="dcterms:W3CDTF">2019-10-03T17:13:49Z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